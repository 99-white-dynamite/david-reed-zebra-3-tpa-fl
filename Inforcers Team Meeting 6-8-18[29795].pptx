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705" r:id="rId1"/>
  </p:sldMasterIdLst>
  <p:sldIdLst>
    <p:sldId id="256" r:id="rId2"/>
    <p:sldId id="257" r:id="rId3"/>
    <p:sldId id="285" r:id="rId4"/>
    <p:sldId id="259" r:id="rId5"/>
    <p:sldId id="261" r:id="rId6"/>
    <p:sldId id="288" r:id="rId7"/>
    <p:sldId id="298" r:id="rId8"/>
    <p:sldId id="294" r:id="rId9"/>
    <p:sldId id="299" r:id="rId10"/>
    <p:sldId id="30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eph Attanasio" initials="JA" lastIdx="2" clrIdx="0">
    <p:extLst>
      <p:ext uri="{19B8F6BF-5375-455C-9EA6-DF929625EA0E}">
        <p15:presenceInfo xmlns:p15="http://schemas.microsoft.com/office/powerpoint/2012/main" userId="1aa6a9a2f263ce0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196" autoAdjust="0"/>
  </p:normalViewPr>
  <p:slideViewPr>
    <p:cSldViewPr snapToGrid="0">
      <p:cViewPr varScale="1">
        <p:scale>
          <a:sx n="114" d="100"/>
          <a:sy n="114" d="100"/>
        </p:scale>
        <p:origin x="47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FFB9B-9FB8-469E-96F9-4D32314110B6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5452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121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1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2143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0873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059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90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6270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080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12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242901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01274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039740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49160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212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721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04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969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06" r:id="rId1"/>
    <p:sldLayoutId id="2147484707" r:id="rId2"/>
    <p:sldLayoutId id="2147484708" r:id="rId3"/>
    <p:sldLayoutId id="2147484709" r:id="rId4"/>
    <p:sldLayoutId id="2147484710" r:id="rId5"/>
    <p:sldLayoutId id="2147484711" r:id="rId6"/>
    <p:sldLayoutId id="2147484712" r:id="rId7"/>
    <p:sldLayoutId id="2147484713" r:id="rId8"/>
    <p:sldLayoutId id="2147484714" r:id="rId9"/>
    <p:sldLayoutId id="2147484715" r:id="rId10"/>
    <p:sldLayoutId id="2147484716" r:id="rId11"/>
    <p:sldLayoutId id="2147484717" r:id="rId12"/>
    <p:sldLayoutId id="2147484718" r:id="rId13"/>
    <p:sldLayoutId id="2147484719" r:id="rId14"/>
    <p:sldLayoutId id="2147484720" r:id="rId15"/>
    <p:sldLayoutId id="2147484721" r:id="rId16"/>
    <p:sldLayoutId id="214748472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889" y="83035"/>
            <a:ext cx="9448800" cy="1308965"/>
          </a:xfrm>
          <a:scene3d>
            <a:camera prst="perspectiveRelaxedModerately"/>
            <a:lightRig rig="threePt" dir="t"/>
          </a:scene3d>
        </p:spPr>
        <p:txBody>
          <a:bodyPr>
            <a:normAutofit fontScale="90000"/>
          </a:bodyPr>
          <a:lstStyle/>
          <a:p>
            <a:pPr algn="ctr"/>
            <a:r>
              <a:rPr lang="en-US" sz="8000" dirty="0">
                <a:solidFill>
                  <a:schemeClr val="accent2">
                    <a:lumMod val="75000"/>
                  </a:schemeClr>
                </a:solidFill>
                <a:latin typeface="Cooper Black" panose="0208090405030B090404" pitchFamily="18" charset="0"/>
              </a:rPr>
              <a:t>THE</a:t>
            </a:r>
            <a:r>
              <a:rPr lang="en-US" sz="8000" dirty="0">
                <a:solidFill>
                  <a:schemeClr val="bg2">
                    <a:lumMod val="75000"/>
                  </a:schemeClr>
                </a:solidFill>
                <a:latin typeface="Cooper Black" panose="0208090405030B090404" pitchFamily="18" charset="0"/>
              </a:rPr>
              <a:t> </a:t>
            </a:r>
            <a:r>
              <a:rPr lang="en-US" sz="8000" dirty="0">
                <a:solidFill>
                  <a:schemeClr val="accent2">
                    <a:lumMod val="75000"/>
                  </a:schemeClr>
                </a:solidFill>
                <a:latin typeface="Cooper Black" panose="0208090405030B090404" pitchFamily="18" charset="0"/>
              </a:rPr>
              <a:t>INFORCERS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4531" y="5433291"/>
            <a:ext cx="9448800" cy="1558791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oper Black" panose="0208090405030B090404" pitchFamily="18" charset="0"/>
              </a:rPr>
              <a:t>Team meeting </a:t>
            </a:r>
          </a:p>
          <a:p>
            <a:pPr algn="ctr"/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oper Black" panose="0208090405030B090404" pitchFamily="18" charset="0"/>
              </a:rPr>
              <a:t>Friday 06/08/2018</a:t>
            </a:r>
          </a:p>
          <a:p>
            <a:pPr algn="ctr"/>
            <a:endParaRPr lang="en-US" sz="3600" dirty="0">
              <a:solidFill>
                <a:schemeClr val="accent1">
                  <a:lumMod val="50000"/>
                </a:schemeClr>
              </a:solidFill>
              <a:latin typeface="Cooper Black" panose="0208090405030B0904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0E52A-971C-4C62-98C8-56F65A847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415" y="1121543"/>
            <a:ext cx="4311748" cy="431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61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961" y="2157755"/>
            <a:ext cx="6276498" cy="306625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600" dirty="0">
                <a:solidFill>
                  <a:schemeClr val="tx1">
                    <a:lumMod val="95000"/>
                  </a:schemeClr>
                </a:solidFill>
                <a:latin typeface="Cooper Black" panose="0208090405030B090404" pitchFamily="18" charset="0"/>
              </a:rPr>
              <a:t>#</a:t>
            </a:r>
            <a:r>
              <a:rPr lang="en-US" sz="9600" dirty="0">
                <a:solidFill>
                  <a:srgbClr val="FF0000"/>
                </a:solidFill>
                <a:latin typeface="Cooper Black" panose="0208090405030B090404" pitchFamily="18" charset="0"/>
              </a:rPr>
              <a:t>10</a:t>
            </a:r>
            <a:r>
              <a:rPr lang="en-US" sz="9600" dirty="0">
                <a:solidFill>
                  <a:schemeClr val="tx1">
                    <a:lumMod val="95000"/>
                  </a:schemeClr>
                </a:solidFill>
                <a:latin typeface="Cooper Black" panose="0208090405030B090404" pitchFamily="18" charset="0"/>
              </a:rPr>
              <a:t> </a:t>
            </a:r>
            <a:r>
              <a:rPr lang="en-US" sz="5400" dirty="0">
                <a:solidFill>
                  <a:schemeClr val="tx1">
                    <a:lumMod val="95000"/>
                  </a:schemeClr>
                </a:solidFill>
                <a:latin typeface="Cooper Black" panose="0208090405030B090404" pitchFamily="18" charset="0"/>
              </a:rPr>
              <a:t>in the</a:t>
            </a:r>
            <a:br>
              <a:rPr lang="en-US" sz="5400" dirty="0">
                <a:solidFill>
                  <a:schemeClr val="tx1">
                    <a:lumMod val="95000"/>
                  </a:schemeClr>
                </a:solidFill>
                <a:latin typeface="Cooper Black" panose="0208090405030B090404" pitchFamily="18" charset="0"/>
              </a:rPr>
            </a:br>
            <a:r>
              <a:rPr lang="en-US" sz="5400" dirty="0">
                <a:solidFill>
                  <a:schemeClr val="tx1">
                    <a:lumMod val="95000"/>
                  </a:schemeClr>
                </a:solidFill>
                <a:latin typeface="Cooper Black" panose="0208090405030B090404" pitchFamily="18" charset="0"/>
              </a:rPr>
              <a:t> country  with</a:t>
            </a:r>
            <a:br>
              <a:rPr lang="en-US" sz="5400" dirty="0">
                <a:solidFill>
                  <a:schemeClr val="tx1">
                    <a:lumMod val="95000"/>
                  </a:schemeClr>
                </a:solidFill>
                <a:latin typeface="Cooper Black" panose="0208090405030B090404" pitchFamily="18" charset="0"/>
              </a:rPr>
            </a:br>
            <a:r>
              <a:rPr lang="en-US" sz="5400" dirty="0">
                <a:solidFill>
                  <a:schemeClr val="tx1">
                    <a:lumMod val="95000"/>
                  </a:schemeClr>
                </a:solidFill>
                <a:latin typeface="Cooper Black" panose="0208090405030B090404" pitchFamily="18" charset="0"/>
              </a:rPr>
              <a:t>$161,390 submitted!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0857" y="577531"/>
            <a:ext cx="9206272" cy="109252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bg2">
                    <a:lumMod val="40000"/>
                    <a:lumOff val="60000"/>
                  </a:schemeClr>
                </a:solidFill>
                <a:latin typeface="Cooper Black" panose="0208090405030B090404" pitchFamily="18" charset="0"/>
              </a:rPr>
              <a:t>The Inforcers are….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AF645-C91A-40ED-A483-CAB355DA5684}"/>
              </a:ext>
            </a:extLst>
          </p:cNvPr>
          <p:cNvSpPr txBox="1"/>
          <p:nvPr/>
        </p:nvSpPr>
        <p:spPr>
          <a:xfrm flipH="1">
            <a:off x="766918" y="5911137"/>
            <a:ext cx="3555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Last week Rank   #20 with $97,452 submitted</a:t>
            </a:r>
          </a:p>
        </p:txBody>
      </p:sp>
      <p:pic>
        <p:nvPicPr>
          <p:cNvPr id="6146" name="Picture 2" descr="Image result for motivate to sell quotes">
            <a:extLst>
              <a:ext uri="{FF2B5EF4-FFF2-40B4-BE49-F238E27FC236}">
                <a16:creationId xmlns:a16="http://schemas.microsoft.com/office/drawing/2014/main" id="{D8EEA90E-3B9E-49CE-B7EA-93A70ADBD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781" y="1922394"/>
            <a:ext cx="4051846" cy="405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37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757686-850F-4C12-B295-693193449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31" y="289161"/>
            <a:ext cx="11112500" cy="1292225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6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oper Black" panose="0208090405030B090404" pitchFamily="18" charset="0"/>
              </a:rPr>
              <a:t>The Inforcers Numbers</a:t>
            </a:r>
          </a:p>
        </p:txBody>
      </p:sp>
      <p:sp>
        <p:nvSpPr>
          <p:cNvPr id="2" name="Rectangle 1"/>
          <p:cNvSpPr/>
          <p:nvPr/>
        </p:nvSpPr>
        <p:spPr>
          <a:xfrm>
            <a:off x="1104813" y="3984109"/>
            <a:ext cx="2435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83293" y="4506877"/>
            <a:ext cx="6453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ooper Black" panose="0208090404030B020404" pitchFamily="18" charset="0"/>
              </a:rPr>
              <a:t>            </a:t>
            </a:r>
            <a:endParaRPr lang="en-US" dirty="0">
              <a:solidFill>
                <a:schemeClr val="tx2">
                  <a:lumMod val="50000"/>
                </a:schemeClr>
              </a:solidFill>
              <a:latin typeface="Cooper Black" panose="0208090404030B020404" pitchFamily="18" charset="0"/>
            </a:endParaRPr>
          </a:p>
          <a:p>
            <a:endParaRPr lang="en-US" dirty="0">
              <a:solidFill>
                <a:schemeClr val="tx1">
                  <a:lumMod val="95000"/>
                </a:schemeClr>
              </a:solidFill>
              <a:latin typeface="Cooper Black" panose="0208090404030B0204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B2FCB0-134B-4CE1-B0D7-40C73761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705266"/>
              </p:ext>
            </p:extLst>
          </p:nvPr>
        </p:nvGraphicFramePr>
        <p:xfrm>
          <a:off x="435231" y="1925418"/>
          <a:ext cx="4604605" cy="4486714"/>
        </p:xfrm>
        <a:graphic>
          <a:graphicData uri="http://schemas.openxmlformats.org/drawingml/2006/table">
            <a:tbl>
              <a:tblPr/>
              <a:tblGrid>
                <a:gridCol w="193675">
                  <a:extLst>
                    <a:ext uri="{9D8B030D-6E8A-4147-A177-3AD203B41FA5}">
                      <a16:colId xmlns:a16="http://schemas.microsoft.com/office/drawing/2014/main" val="3726042448"/>
                    </a:ext>
                  </a:extLst>
                </a:gridCol>
                <a:gridCol w="2915220">
                  <a:extLst>
                    <a:ext uri="{9D8B030D-6E8A-4147-A177-3AD203B41FA5}">
                      <a16:colId xmlns:a16="http://schemas.microsoft.com/office/drawing/2014/main" val="2378444791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157103603"/>
                    </a:ext>
                  </a:extLst>
                </a:gridCol>
                <a:gridCol w="1470310">
                  <a:extLst>
                    <a:ext uri="{9D8B030D-6E8A-4147-A177-3AD203B41FA5}">
                      <a16:colId xmlns:a16="http://schemas.microsoft.com/office/drawing/2014/main" val="1297125173"/>
                    </a:ext>
                  </a:extLst>
                </a:gridCol>
              </a:tblGrid>
              <a:tr h="397951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                    THIS WEEK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717709"/>
                  </a:ext>
                </a:extLst>
              </a:tr>
              <a:tr h="397951">
                <a:tc>
                  <a:txBody>
                    <a:bodyPr/>
                    <a:lstStyle/>
                    <a:p>
                      <a:pPr algn="ctr" fontAlgn="t"/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DAVID REED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$58,294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846124"/>
                  </a:ext>
                </a:extLst>
              </a:tr>
              <a:tr h="397951">
                <a:tc>
                  <a:txBody>
                    <a:bodyPr/>
                    <a:lstStyle/>
                    <a:p>
                      <a:pPr algn="ctr" fontAlgn="t"/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IVELINA DIMITRVA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$16,779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38074"/>
                  </a:ext>
                </a:extLst>
              </a:tr>
              <a:tr h="397951">
                <a:tc>
                  <a:txBody>
                    <a:bodyPr/>
                    <a:lstStyle/>
                    <a:p>
                      <a:pPr algn="ctr" fontAlgn="t"/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JEFF PETTAY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$7,159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2135184"/>
                  </a:ext>
                </a:extLst>
              </a:tr>
              <a:tr h="397951">
                <a:tc>
                  <a:txBody>
                    <a:bodyPr/>
                    <a:lstStyle/>
                    <a:p>
                      <a:pPr algn="ctr" fontAlgn="t"/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CORY MOORE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$5,570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645476"/>
                  </a:ext>
                </a:extLst>
              </a:tr>
              <a:tr h="397951">
                <a:tc>
                  <a:txBody>
                    <a:bodyPr/>
                    <a:lstStyle/>
                    <a:p>
                      <a:pPr algn="ctr" fontAlgn="t"/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BRYAN DASKAM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$4,668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9051483"/>
                  </a:ext>
                </a:extLst>
              </a:tr>
              <a:tr h="397951">
                <a:tc>
                  <a:txBody>
                    <a:bodyPr/>
                    <a:lstStyle/>
                    <a:p>
                      <a:pPr algn="ctr" fontAlgn="t"/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RICK ATTANASIO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$4,636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818729"/>
                  </a:ext>
                </a:extLst>
              </a:tr>
              <a:tr h="569544">
                <a:tc>
                  <a:txBody>
                    <a:bodyPr/>
                    <a:lstStyle/>
                    <a:p>
                      <a:pPr algn="ctr" fontAlgn="t"/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ASHLEIGH BRAGA</a:t>
                      </a:r>
                    </a:p>
                    <a:p>
                      <a:pPr algn="l" fontAlgn="t"/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ooper Black" panose="0208090404030B020404" pitchFamily="18" charset="0"/>
                        </a:rPr>
                        <a:t>$346</a:t>
                      </a:r>
                    </a:p>
                    <a:p>
                      <a:pPr algn="r" fontAlgn="t"/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980918"/>
                  </a:ext>
                </a:extLst>
              </a:tr>
              <a:tr h="397951">
                <a:tc>
                  <a:txBody>
                    <a:bodyPr/>
                    <a:lstStyle/>
                    <a:p>
                      <a:pPr algn="ctr" fontAlgn="t"/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oper Black" panose="0208090404030B020404" pitchFamily="18" charset="0"/>
                        </a:rPr>
                        <a:t>TEAM TOTAL: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b="1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oper Black" panose="0208090404030B020404" pitchFamily="18" charset="0"/>
                        </a:rPr>
                        <a:t>$97,452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531070"/>
                  </a:ext>
                </a:extLst>
              </a:tr>
              <a:tr h="693506">
                <a:tc>
                  <a:txBody>
                    <a:bodyPr/>
                    <a:lstStyle/>
                    <a:p>
                      <a:pPr algn="ctr" fontAlgn="t"/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oper Black" panose="0208090404030B020404" pitchFamily="18" charset="0"/>
                        </a:rPr>
                        <a:t>TEAM AVERAGE: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2000" b="1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Cooper Black" panose="0208090404030B0204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oper Black" panose="0208090404030B020404" pitchFamily="18" charset="0"/>
                        </a:rPr>
                        <a:t>$13,922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F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1478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F4D117B-F5F8-4A62-A03D-7447EFA46F30}"/>
              </a:ext>
            </a:extLst>
          </p:cNvPr>
          <p:cNvSpPr txBox="1"/>
          <p:nvPr/>
        </p:nvSpPr>
        <p:spPr>
          <a:xfrm>
            <a:off x="1761959" y="1925418"/>
            <a:ext cx="19511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oper Black" panose="0208090404030B020404" pitchFamily="18" charset="0"/>
              </a:rPr>
              <a:t>LAST WEEK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BD6F7D-A7AD-471D-A390-F272C0E0807D}"/>
              </a:ext>
            </a:extLst>
          </p:cNvPr>
          <p:cNvSpPr txBox="1"/>
          <p:nvPr/>
        </p:nvSpPr>
        <p:spPr>
          <a:xfrm>
            <a:off x="6723866" y="2026182"/>
            <a:ext cx="19511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oper Black" panose="0208090404030B020404" pitchFamily="18" charset="0"/>
              </a:rPr>
              <a:t>This WEEK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DE7ED-39C1-4719-A9EC-EE37BB1405B8}"/>
              </a:ext>
            </a:extLst>
          </p:cNvPr>
          <p:cNvSpPr/>
          <p:nvPr/>
        </p:nvSpPr>
        <p:spPr>
          <a:xfrm>
            <a:off x="5991481" y="2327815"/>
            <a:ext cx="437567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Rank 	Name	          Total AV</a:t>
            </a:r>
          </a:p>
          <a:p>
            <a:r>
              <a:rPr lang="en-US" dirty="0"/>
              <a:t>1	DAVID REED	             $74,563</a:t>
            </a:r>
          </a:p>
          <a:p>
            <a:r>
              <a:rPr lang="en-US" dirty="0"/>
              <a:t>2	ASHLEIGH BRAGA  	$48,396</a:t>
            </a:r>
          </a:p>
          <a:p>
            <a:r>
              <a:rPr lang="en-US" dirty="0"/>
              <a:t>3	IVELINA DIMITROVA	$19,607</a:t>
            </a:r>
          </a:p>
          <a:p>
            <a:r>
              <a:rPr lang="en-US" dirty="0"/>
              <a:t>4	DELENE DARCEL	       $9,438</a:t>
            </a:r>
          </a:p>
          <a:p>
            <a:r>
              <a:rPr lang="en-US" dirty="0"/>
              <a:t>5	RICK ATTANASIO	       $9,387</a:t>
            </a:r>
          </a:p>
          <a:p>
            <a:r>
              <a:rPr lang="en-US" dirty="0"/>
              <a:t> 	Team Total: 	$161,391</a:t>
            </a:r>
          </a:p>
          <a:p>
            <a:r>
              <a:rPr lang="en-US" dirty="0"/>
              <a:t> 	Team Average: 	$32,278</a:t>
            </a:r>
          </a:p>
        </p:txBody>
      </p:sp>
    </p:spTree>
    <p:extLst>
      <p:ext uri="{BB962C8B-B14F-4D97-AF65-F5344CB8AC3E}">
        <p14:creationId xmlns:p14="http://schemas.microsoft.com/office/powerpoint/2010/main" val="3547495326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715" y="4715423"/>
            <a:ext cx="8596667" cy="566738"/>
          </a:xfrm>
        </p:spPr>
        <p:txBody>
          <a:bodyPr>
            <a:noAutofit/>
          </a:bodyPr>
          <a:lstStyle/>
          <a:p>
            <a:pPr algn="ctr"/>
            <a:r>
              <a:rPr lang="en-US" sz="5400" b="1" i="1" dirty="0">
                <a:solidFill>
                  <a:schemeClr val="tx1"/>
                </a:solidFill>
                <a:latin typeface="Cooper Black" panose="0208090405030B090404" pitchFamily="18" charset="0"/>
              </a:rPr>
              <a:t>TOP PRODUCER!!</a:t>
            </a:r>
            <a:endParaRPr lang="en-US" sz="5400" b="1" i="1" dirty="0">
              <a:solidFill>
                <a:schemeClr val="tx1"/>
              </a:solidFill>
            </a:endParaRPr>
          </a:p>
        </p:txBody>
      </p:sp>
      <p:pic>
        <p:nvPicPr>
          <p:cNvPr id="7" name="Picture Placeholder 6" descr="A picture containing person, man&#10;&#10;Description generated with very high confidence">
            <a:extLst>
              <a:ext uri="{FF2B5EF4-FFF2-40B4-BE49-F238E27FC236}">
                <a16:creationId xmlns:a16="http://schemas.microsoft.com/office/drawing/2014/main" id="{99B399E6-CED0-4015-B9A9-563779273F7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3227" r="33227"/>
          <a:stretch>
            <a:fillRect/>
          </a:stretch>
        </p:blipFill>
        <p:spPr>
          <a:xfrm rot="5400000">
            <a:off x="3052763" y="-1765300"/>
            <a:ext cx="3844925" cy="8596313"/>
          </a:xfrm>
        </p:spPr>
      </p:pic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534210" y="5102159"/>
            <a:ext cx="8596667" cy="67402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oper Black" panose="0208090405030B090404" pitchFamily="18" charset="0"/>
              </a:rPr>
              <a:t>David Reed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oper Black" panose="0208090405030B090404" pitchFamily="18" charset="0"/>
              </a:rPr>
              <a:t>(AGAIN AND AGAIN)</a:t>
            </a:r>
          </a:p>
          <a:p>
            <a:pPr marL="0" indent="0" algn="ctr">
              <a:buNone/>
            </a:pPr>
            <a:endParaRPr lang="en-US" sz="6000" dirty="0">
              <a:solidFill>
                <a:schemeClr val="accent1">
                  <a:lumMod val="60000"/>
                  <a:lumOff val="40000"/>
                </a:schemeClr>
              </a:solidFill>
              <a:latin typeface="Cooper Black" panose="0208090405030B09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77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405" y="405381"/>
            <a:ext cx="5486137" cy="1303867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Cooper Black" panose="0208090405030B090404" pitchFamily="18" charset="0"/>
              </a:rPr>
              <a:t>OUR GOALS!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34" y="1643417"/>
            <a:ext cx="3141878" cy="1369612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ooper Black" panose="0208090405030B090404" pitchFamily="18" charset="0"/>
              </a:rPr>
              <a:t>TOTAL SUBMITTED  AV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2681" y="3516665"/>
            <a:ext cx="2607123" cy="1148275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3200" dirty="0">
                <a:solidFill>
                  <a:schemeClr val="tx2">
                    <a:lumMod val="10000"/>
                  </a:schemeClr>
                </a:solidFill>
                <a:highlight>
                  <a:srgbClr val="FFFF00"/>
                </a:highlight>
                <a:latin typeface="Cooper Black" panose="0208090405030B090404" pitchFamily="18" charset="0"/>
              </a:rPr>
              <a:t>WE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Cooper Black" panose="0208090405030B090404" pitchFamily="18" charset="0"/>
              </a:rPr>
              <a:t> </a:t>
            </a:r>
            <a:r>
              <a:rPr lang="en-US" sz="3200" dirty="0">
                <a:solidFill>
                  <a:schemeClr val="tx2">
                    <a:lumMod val="10000"/>
                  </a:schemeClr>
                </a:solidFill>
                <a:highlight>
                  <a:srgbClr val="FFFF00"/>
                </a:highlight>
                <a:latin typeface="Cooper Black" panose="0208090405030B090404" pitchFamily="18" charset="0"/>
              </a:rPr>
              <a:t>WILL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Cooper Black" panose="0208090405030B090404" pitchFamily="18" charset="0"/>
              </a:rPr>
              <a:t> </a:t>
            </a:r>
            <a:r>
              <a:rPr lang="en-US" sz="3200" dirty="0">
                <a:solidFill>
                  <a:schemeClr val="tx2">
                    <a:lumMod val="10000"/>
                  </a:schemeClr>
                </a:solidFill>
                <a:highlight>
                  <a:srgbClr val="FFFF00"/>
                </a:highlight>
                <a:latin typeface="Cooper Black" panose="0208090405030B090404" pitchFamily="18" charset="0"/>
              </a:rPr>
              <a:t>SUBMIT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Cooper Black" panose="0208090405030B090404" pitchFamily="18" charset="0"/>
              </a:rPr>
              <a:t> </a:t>
            </a:r>
            <a:r>
              <a:rPr lang="en-US" sz="3200" dirty="0">
                <a:solidFill>
                  <a:schemeClr val="tx2">
                    <a:lumMod val="10000"/>
                  </a:schemeClr>
                </a:solidFill>
                <a:highlight>
                  <a:srgbClr val="FFFF00"/>
                </a:highlight>
                <a:latin typeface="Cooper Black" panose="0208090405030B090404" pitchFamily="18" charset="0"/>
              </a:rPr>
              <a:t>$100,000 !!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51781" y="2283818"/>
            <a:ext cx="3147009" cy="1012353"/>
          </a:xfrm>
        </p:spPr>
        <p:txBody>
          <a:bodyPr/>
          <a:lstStyle/>
          <a:p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ooper Black" panose="0208090405030B090404" pitchFamily="18" charset="0"/>
              </a:rPr>
              <a:t>TOTAL APPS SUBMITTED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6"/>
          </p:nvPr>
        </p:nvSpPr>
        <p:spPr>
          <a:xfrm>
            <a:off x="3416212" y="3412582"/>
            <a:ext cx="3147009" cy="2419586"/>
          </a:xfrm>
        </p:spPr>
        <p:txBody>
          <a:bodyPr>
            <a:normAutofit/>
          </a:bodyPr>
          <a:lstStyle/>
          <a:p>
            <a:pPr algn="ctr"/>
            <a:r>
              <a:rPr lang="en-US" sz="1800" dirty="0">
                <a:solidFill>
                  <a:schemeClr val="tx2">
                    <a:lumMod val="10000"/>
                  </a:schemeClr>
                </a:solidFill>
                <a:highlight>
                  <a:srgbClr val="FFFF00"/>
                </a:highlight>
                <a:latin typeface="Cooper Black" panose="0208090405030B090404" pitchFamily="18" charset="0"/>
              </a:rPr>
              <a:t>WE WILL SUBMIT 30 APPS- AND MOST IMPORTANTLY HELP 30 FAMILIES AND INDIVIDUALS SECURE THEIR ASSETS AND PROTECT THEIR WELL-BEINGS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Cooper Black" panose="0208090405030B090404" pitchFamily="18" charset="0"/>
              </a:rPr>
              <a:t>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970313" y="3438518"/>
            <a:ext cx="3145730" cy="926424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ooper Black" panose="0208090405030B090404" pitchFamily="18" charset="0"/>
              </a:rPr>
              <a:t>TOTAL ISSUED AV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17"/>
          </p:nvPr>
        </p:nvSpPr>
        <p:spPr>
          <a:xfrm>
            <a:off x="6970313" y="4364942"/>
            <a:ext cx="3456432" cy="249305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2">
                    <a:lumMod val="10000"/>
                  </a:schemeClr>
                </a:solidFill>
                <a:highlight>
                  <a:srgbClr val="FFFF00"/>
                </a:highlight>
                <a:latin typeface="Cooper Black" panose="0208090405030B090404" pitchFamily="18" charset="0"/>
              </a:rPr>
              <a:t>WE WILL ISSUE AND GET PAID ON $100,000!!</a:t>
            </a:r>
          </a:p>
          <a:p>
            <a:r>
              <a:rPr lang="en-US" sz="2800" dirty="0">
                <a:solidFill>
                  <a:srgbClr val="92D050"/>
                </a:solidFill>
                <a:latin typeface="Cooper Black" panose="0208090405030B090404" pitchFamily="18" charset="0"/>
              </a:rPr>
              <a:t>$$$$$$$$$$$$$$$</a:t>
            </a:r>
          </a:p>
        </p:txBody>
      </p:sp>
      <p:pic>
        <p:nvPicPr>
          <p:cNvPr id="4098" name="Picture 2" descr="Image result for motivate to sell quotes">
            <a:extLst>
              <a:ext uri="{FF2B5EF4-FFF2-40B4-BE49-F238E27FC236}">
                <a16:creationId xmlns:a16="http://schemas.microsoft.com/office/drawing/2014/main" id="{87819DD1-6D55-4B03-9A09-59E5F4933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921" y="526642"/>
            <a:ext cx="4497738" cy="2421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9066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5" presetID="31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889" y="2516485"/>
            <a:ext cx="8610600" cy="911609"/>
          </a:xfrm>
        </p:spPr>
        <p:txBody>
          <a:bodyPr>
            <a:noAutofit/>
          </a:bodyPr>
          <a:lstStyle/>
          <a:p>
            <a:pPr algn="ctr"/>
            <a:r>
              <a:rPr lang="en-US" sz="5400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oper Black" panose="0208090405030B090404" pitchFamily="18" charset="0"/>
              </a:rPr>
              <a:t>HIT IT---100K!!</a:t>
            </a:r>
            <a:b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oper Black" panose="0208090405030B090404" pitchFamily="18" charset="0"/>
              </a:rPr>
            </a:br>
            <a:r>
              <a:rPr lang="en-US" b="1" i="1" dirty="0">
                <a:solidFill>
                  <a:schemeClr val="bg2">
                    <a:lumMod val="10000"/>
                  </a:schemeClr>
                </a:solidFill>
                <a:latin typeface="Cooper Black" panose="0208090405030B090404" pitchFamily="18" charset="0"/>
              </a:rPr>
              <a:t> </a:t>
            </a:r>
            <a:br>
              <a:rPr lang="en-US" b="1" i="1" dirty="0">
                <a:solidFill>
                  <a:schemeClr val="bg2">
                    <a:lumMod val="10000"/>
                  </a:schemeClr>
                </a:solidFill>
                <a:latin typeface="Cooper Black" panose="0208090405030B090404" pitchFamily="18" charset="0"/>
              </a:rPr>
            </a:br>
            <a:r>
              <a:rPr lang="en-US" b="1" i="1" dirty="0">
                <a:solidFill>
                  <a:schemeClr val="bg2">
                    <a:lumMod val="10000"/>
                  </a:schemeClr>
                </a:solidFill>
                <a:latin typeface="Cooper Black" panose="0208090405030B090404" pitchFamily="18" charset="0"/>
              </a:rPr>
              <a:t> IVELINA</a:t>
            </a:r>
            <a:br>
              <a:rPr lang="en-US" b="1" i="1" dirty="0">
                <a:solidFill>
                  <a:schemeClr val="bg2">
                    <a:lumMod val="10000"/>
                  </a:schemeClr>
                </a:solidFill>
                <a:latin typeface="Cooper Black" panose="0208090405030B090404" pitchFamily="18" charset="0"/>
              </a:rPr>
            </a:br>
            <a:endParaRPr lang="en-US" sz="5400" b="1" i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C2BE46-F60F-47F3-82B3-2F5A8B114FA9}"/>
              </a:ext>
            </a:extLst>
          </p:cNvPr>
          <p:cNvSpPr txBox="1">
            <a:spLocks/>
          </p:cNvSpPr>
          <p:nvPr/>
        </p:nvSpPr>
        <p:spPr>
          <a:xfrm>
            <a:off x="-1168783" y="2640103"/>
            <a:ext cx="8142811" cy="1068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Cooper Black" panose="0208090405030B090404" pitchFamily="18" charset="0"/>
              </a:rPr>
              <a:t>      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E3B4A55-9CDF-4D27-90E3-A88728847691}"/>
              </a:ext>
            </a:extLst>
          </p:cNvPr>
          <p:cNvSpPr txBox="1">
            <a:spLocks/>
          </p:cNvSpPr>
          <p:nvPr/>
        </p:nvSpPr>
        <p:spPr>
          <a:xfrm>
            <a:off x="1462284" y="4529924"/>
            <a:ext cx="8142811" cy="1068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endParaRPr lang="en-US" sz="6000" dirty="0">
              <a:solidFill>
                <a:schemeClr val="tx2">
                  <a:lumMod val="75000"/>
                </a:schemeClr>
              </a:solidFill>
              <a:latin typeface="Cooper Black" panose="0208090405030B0904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650" y="163763"/>
            <a:ext cx="4225078" cy="21909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AD6B0E-3809-4682-B05D-8133637C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725" y="3606410"/>
            <a:ext cx="2889215" cy="2889215"/>
          </a:xfrm>
          <a:prstGeom prst="rect">
            <a:avLst/>
          </a:prstGeom>
        </p:spPr>
      </p:pic>
      <p:pic>
        <p:nvPicPr>
          <p:cNvPr id="3074" name="Picture 2" descr="Image result for motivate to sell quotes">
            <a:extLst>
              <a:ext uri="{FF2B5EF4-FFF2-40B4-BE49-F238E27FC236}">
                <a16:creationId xmlns:a16="http://schemas.microsoft.com/office/drawing/2014/main" id="{A94D0763-6299-4447-B848-76C069294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39" y="3570785"/>
            <a:ext cx="32385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00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1" y="9397"/>
            <a:ext cx="9562289" cy="132080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FIRST NEW BUSINESS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557555" y="1200231"/>
            <a:ext cx="3223588" cy="576262"/>
          </a:xfrm>
        </p:spPr>
        <p:txBody>
          <a:bodyPr/>
          <a:lstStyle/>
          <a:p>
            <a:r>
              <a:rPr lang="en-US" sz="3200" b="1" dirty="0">
                <a:latin typeface="Arial Rounded MT Bold" panose="020F0704030504030204" pitchFamily="34" charset="0"/>
              </a:rPr>
              <a:t>COREY!!!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AD8C42-2770-433D-8F6F-63D0C2CF9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273" y="3607555"/>
            <a:ext cx="4693504" cy="276225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EAA22F-7BDD-4E57-A6C9-70ABEDEA5B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21888" y="2736850"/>
            <a:ext cx="3493424" cy="33051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EA4858-6D83-47C3-AD5A-A48D0611C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753" y="824541"/>
            <a:ext cx="4205024" cy="218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29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230" y="661657"/>
            <a:ext cx="8610600" cy="1944111"/>
          </a:xfrm>
        </p:spPr>
        <p:txBody>
          <a:bodyPr>
            <a:noAutofit/>
          </a:bodyPr>
          <a:lstStyle/>
          <a:p>
            <a:pPr algn="ctr"/>
            <a:r>
              <a:rPr lang="en-US" sz="5400" b="1" i="1" dirty="0">
                <a:solidFill>
                  <a:schemeClr val="accent1">
                    <a:lumMod val="75000"/>
                  </a:schemeClr>
                </a:solidFill>
                <a:latin typeface="Cooper Black" panose="0208090405030B090404" pitchFamily="18" charset="0"/>
              </a:rPr>
              <a:t>                  BOOTCAMP </a:t>
            </a:r>
            <a:endParaRPr lang="en-US" sz="54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E3B4A55-9CDF-4D27-90E3-A88728847691}"/>
              </a:ext>
            </a:extLst>
          </p:cNvPr>
          <p:cNvSpPr txBox="1">
            <a:spLocks/>
          </p:cNvSpPr>
          <p:nvPr/>
        </p:nvSpPr>
        <p:spPr>
          <a:xfrm>
            <a:off x="1699109" y="4398521"/>
            <a:ext cx="8142811" cy="1068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endParaRPr lang="en-US" sz="6000" dirty="0">
              <a:solidFill>
                <a:schemeClr val="tx2">
                  <a:lumMod val="75000"/>
                </a:schemeClr>
              </a:solidFill>
              <a:latin typeface="Cooper Black" panose="0208090405030B0904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4DB003-61A5-48C3-A8EF-FB9E06F3E959}"/>
              </a:ext>
            </a:extLst>
          </p:cNvPr>
          <p:cNvSpPr txBox="1">
            <a:spLocks/>
          </p:cNvSpPr>
          <p:nvPr/>
        </p:nvSpPr>
        <p:spPr>
          <a:xfrm>
            <a:off x="728230" y="3960884"/>
            <a:ext cx="8142811" cy="1068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3200" u="sng" dirty="0">
                <a:solidFill>
                  <a:srgbClr val="0070C0"/>
                </a:solidFill>
                <a:latin typeface="Cooper Black" panose="0208090405030B090404" pitchFamily="18" charset="0"/>
              </a:rPr>
              <a:t>NOW EVERY SATURDAY</a:t>
            </a:r>
          </a:p>
          <a:p>
            <a:pPr marL="0" indent="0" algn="ctr">
              <a:buFont typeface="Wingdings 3" charset="2"/>
              <a:buNone/>
            </a:pPr>
            <a:r>
              <a:rPr lang="en-US" sz="3200" dirty="0">
                <a:solidFill>
                  <a:srgbClr val="0070C0"/>
                </a:solidFill>
                <a:latin typeface="Cooper Black" panose="0208090405030B090404" pitchFamily="18" charset="0"/>
              </a:rPr>
              <a:t>EVERY OTHER SAT –BEGINNERS EVERY OTHER SAT - ADVANCED</a:t>
            </a:r>
          </a:p>
          <a:p>
            <a:pPr marL="0" indent="0" algn="ctr">
              <a:buFont typeface="Wingdings 3" charset="2"/>
              <a:buNone/>
            </a:pPr>
            <a:r>
              <a:rPr lang="en-US" sz="3200" dirty="0">
                <a:solidFill>
                  <a:srgbClr val="FF0000"/>
                </a:solidFill>
                <a:latin typeface="Cooper Black" panose="0208090405030B090404" pitchFamily="18" charset="0"/>
              </a:rPr>
              <a:t>TOMORROW 06/09/2018 - ADVANCED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6F211-7310-485B-8138-B727B2D26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34" y="198713"/>
            <a:ext cx="3152311" cy="3638293"/>
          </a:xfrm>
          <a:prstGeom prst="rect">
            <a:avLst/>
          </a:prstGeom>
        </p:spPr>
      </p:pic>
      <p:pic>
        <p:nvPicPr>
          <p:cNvPr id="8" name="Picture 7" descr="A person holding a sign&#10;&#10;Description generated with high confidence">
            <a:extLst>
              <a:ext uri="{FF2B5EF4-FFF2-40B4-BE49-F238E27FC236}">
                <a16:creationId xmlns:a16="http://schemas.microsoft.com/office/drawing/2014/main" id="{98A2C3B4-E6BF-4F43-A93C-E4D4D7F83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59318"/>
            <a:ext cx="3279305" cy="245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68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49FA89-D744-44E8-B5E0-6B5B1DF4C93D}"/>
              </a:ext>
            </a:extLst>
          </p:cNvPr>
          <p:cNvSpPr txBox="1"/>
          <p:nvPr/>
        </p:nvSpPr>
        <p:spPr>
          <a:xfrm>
            <a:off x="3619378" y="2951018"/>
            <a:ext cx="7110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2pm Training Every Day – but Wednesday</a:t>
            </a:r>
          </a:p>
          <a:p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ED279-87E8-412E-9F62-3A6A0DA29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378" y="3658904"/>
            <a:ext cx="4472387" cy="604910"/>
          </a:xfrm>
        </p:spPr>
        <p:txBody>
          <a:bodyPr/>
          <a:lstStyle/>
          <a:p>
            <a:r>
              <a:rPr lang="en-US" dirty="0"/>
              <a:t>Friday 8am is HOT SEAT  All agent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607A58-49E9-419A-B74B-FA830E764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38" y="380010"/>
            <a:ext cx="3033189" cy="4246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674956-966D-46BC-9967-1CABC32C85BA}"/>
              </a:ext>
            </a:extLst>
          </p:cNvPr>
          <p:cNvSpPr txBox="1"/>
          <p:nvPr/>
        </p:nvSpPr>
        <p:spPr>
          <a:xfrm>
            <a:off x="4023360" y="2053883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Dial + Dial + Dial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EFBDF-B04A-400D-A90B-8837E9A1811C}"/>
              </a:ext>
            </a:extLst>
          </p:cNvPr>
          <p:cNvSpPr txBox="1"/>
          <p:nvPr/>
        </p:nvSpPr>
        <p:spPr>
          <a:xfrm>
            <a:off x="3984568" y="1145942"/>
            <a:ext cx="4619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Leaders in Cabo Week---Shine and Improve</a:t>
            </a:r>
          </a:p>
        </p:txBody>
      </p:sp>
    </p:spTree>
    <p:extLst>
      <p:ext uri="{BB962C8B-B14F-4D97-AF65-F5344CB8AC3E}">
        <p14:creationId xmlns:p14="http://schemas.microsoft.com/office/powerpoint/2010/main" val="1401533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52">
            <a:extLst>
              <a:ext uri="{FF2B5EF4-FFF2-40B4-BE49-F238E27FC236}">
                <a16:creationId xmlns:a16="http://schemas.microsoft.com/office/drawing/2014/main" id="{5EA39187-0197-4C1D-BE4A-06B353C7B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E0FD730-D6BC-440A-89CF-7AA0C22C2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1382DE6-64CB-4577-89E8-47941290A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23">
              <a:extLst>
                <a:ext uri="{FF2B5EF4-FFF2-40B4-BE49-F238E27FC236}">
                  <a16:creationId xmlns:a16="http://schemas.microsoft.com/office/drawing/2014/main" id="{3ABD17EF-A676-4770-A8C8-E83BA02300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Rectangle 25">
              <a:extLst>
                <a:ext uri="{FF2B5EF4-FFF2-40B4-BE49-F238E27FC236}">
                  <a16:creationId xmlns:a16="http://schemas.microsoft.com/office/drawing/2014/main" id="{380D4582-A9DE-4A6E-8537-EFC4F860C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D66B8CF3-0959-4E8D-8F3A-AF62F21D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Rectangle 27">
              <a:extLst>
                <a:ext uri="{FF2B5EF4-FFF2-40B4-BE49-F238E27FC236}">
                  <a16:creationId xmlns:a16="http://schemas.microsoft.com/office/drawing/2014/main" id="{97D4D559-2783-4E84-BB73-7F51D0235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Rectangle 28">
              <a:extLst>
                <a:ext uri="{FF2B5EF4-FFF2-40B4-BE49-F238E27FC236}">
                  <a16:creationId xmlns:a16="http://schemas.microsoft.com/office/drawing/2014/main" id="{8834FE36-E841-40B5-9465-1CFC99ED5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Rectangle 29">
              <a:extLst>
                <a:ext uri="{FF2B5EF4-FFF2-40B4-BE49-F238E27FC236}">
                  <a16:creationId xmlns:a16="http://schemas.microsoft.com/office/drawing/2014/main" id="{1A4197A1-AE79-4DC1-9E3A-845B40BA8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326F6688-CBD0-42EE-9B90-25100FE89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EF23F9BB-FC2E-48BA-8E63-A4436C28D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99" name="Isosceles Triangle 30">
            <a:extLst>
              <a:ext uri="{FF2B5EF4-FFF2-40B4-BE49-F238E27FC236}">
                <a16:creationId xmlns:a16="http://schemas.microsoft.com/office/drawing/2014/main" id="{2F9F6FEB-DD01-4F04-A465-6BB9A3560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" name="Freeform 52">
            <a:extLst>
              <a:ext uri="{FF2B5EF4-FFF2-40B4-BE49-F238E27FC236}">
                <a16:creationId xmlns:a16="http://schemas.microsoft.com/office/drawing/2014/main" id="{3A459D44-E95C-4AB2-9D79-7C182560C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649" y="3576484"/>
            <a:ext cx="8522979" cy="3281517"/>
          </a:xfrm>
          <a:custGeom>
            <a:avLst/>
            <a:gdLst>
              <a:gd name="connsiteX0" fmla="*/ 8516100 w 8522979"/>
              <a:gd name="connsiteY0" fmla="*/ 0 h 3281517"/>
              <a:gd name="connsiteX1" fmla="*/ 8522979 w 8522979"/>
              <a:gd name="connsiteY1" fmla="*/ 3281517 h 3281517"/>
              <a:gd name="connsiteX2" fmla="*/ 650153 w 8522979"/>
              <a:gd name="connsiteY2" fmla="*/ 3281517 h 3281517"/>
              <a:gd name="connsiteX3" fmla="*/ 0 w 8522979"/>
              <a:gd name="connsiteY3" fmla="*/ 3003752 h 3281517"/>
              <a:gd name="connsiteX4" fmla="*/ 879142 w 8522979"/>
              <a:gd name="connsiteY4" fmla="*/ 690551 h 328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22979" h="3281517">
                <a:moveTo>
                  <a:pt x="8516100" y="0"/>
                </a:moveTo>
                <a:lnTo>
                  <a:pt x="8522979" y="3281517"/>
                </a:lnTo>
                <a:lnTo>
                  <a:pt x="650153" y="3281517"/>
                </a:lnTo>
                <a:lnTo>
                  <a:pt x="0" y="3003752"/>
                </a:lnTo>
                <a:lnTo>
                  <a:pt x="879142" y="690551"/>
                </a:lnTo>
                <a:close/>
              </a:path>
            </a:pathLst>
          </a:custGeom>
          <a:solidFill>
            <a:schemeClr val="tx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F37062B-29B9-48EA-B20D-914634A68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78411DE-368F-4426-8868-B6EEB07F7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23">
            <a:extLst>
              <a:ext uri="{FF2B5EF4-FFF2-40B4-BE49-F238E27FC236}">
                <a16:creationId xmlns:a16="http://schemas.microsoft.com/office/drawing/2014/main" id="{6D3E764F-DD76-4E74-8C36-7CEE8231E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5" name="Rectangle 25">
            <a:extLst>
              <a:ext uri="{FF2B5EF4-FFF2-40B4-BE49-F238E27FC236}">
                <a16:creationId xmlns:a16="http://schemas.microsoft.com/office/drawing/2014/main" id="{087944EB-94D5-45B3-801D-DCE3F5264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7" name="Isosceles Triangle 24">
            <a:extLst>
              <a:ext uri="{FF2B5EF4-FFF2-40B4-BE49-F238E27FC236}">
                <a16:creationId xmlns:a16="http://schemas.microsoft.com/office/drawing/2014/main" id="{E6C6DF53-20EC-4B92-9ADE-C0B7B4056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9" name="Rectangle 27">
            <a:extLst>
              <a:ext uri="{FF2B5EF4-FFF2-40B4-BE49-F238E27FC236}">
                <a16:creationId xmlns:a16="http://schemas.microsoft.com/office/drawing/2014/main" id="{5AA3CC08-5871-4D9C-8C6A-A90142CB0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1" name="Rectangle 28">
            <a:extLst>
              <a:ext uri="{FF2B5EF4-FFF2-40B4-BE49-F238E27FC236}">
                <a16:creationId xmlns:a16="http://schemas.microsoft.com/office/drawing/2014/main" id="{2872F700-90BF-4EFD-9F34-06E9EFB27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3" name="Rectangle 29">
            <a:extLst>
              <a:ext uri="{FF2B5EF4-FFF2-40B4-BE49-F238E27FC236}">
                <a16:creationId xmlns:a16="http://schemas.microsoft.com/office/drawing/2014/main" id="{F863767A-3540-4676-A852-0E8A7A2EE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5" name="Isosceles Triangle 29">
            <a:extLst>
              <a:ext uri="{FF2B5EF4-FFF2-40B4-BE49-F238E27FC236}">
                <a16:creationId xmlns:a16="http://schemas.microsoft.com/office/drawing/2014/main" id="{10D8237D-B0CE-41F6-B238-F6F84B855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3544326" y="4953000"/>
            <a:ext cx="8231732" cy="104133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5400" dirty="0">
                <a:solidFill>
                  <a:schemeClr val="bg1"/>
                </a:solidFill>
                <a:latin typeface="Berlin Sans FB Demi" panose="020E0802020502020306" pitchFamily="34" charset="0"/>
              </a:rPr>
              <a:t>ONE TEAM-ONE FIGHT!!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93B8F6-BD2E-4736-8311-BFCEA97BD7A0}"/>
              </a:ext>
            </a:extLst>
          </p:cNvPr>
          <p:cNvSpPr txBox="1"/>
          <p:nvPr/>
        </p:nvSpPr>
        <p:spPr>
          <a:xfrm>
            <a:off x="766086" y="838030"/>
            <a:ext cx="97960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Have Fun Ash and Joe  !</a:t>
            </a:r>
          </a:p>
          <a:p>
            <a:endParaRPr lang="en-US" sz="3600" b="1" dirty="0"/>
          </a:p>
          <a:p>
            <a:r>
              <a:rPr lang="en-US" sz="3600" b="1" dirty="0"/>
              <a:t>WE will be a better Team when you get back</a:t>
            </a:r>
          </a:p>
          <a:p>
            <a:r>
              <a:rPr lang="en-US" sz="3600" b="1" dirty="0"/>
              <a:t> and Ready to Level-Up!!!</a:t>
            </a:r>
          </a:p>
        </p:txBody>
      </p:sp>
    </p:spTree>
    <p:extLst>
      <p:ext uri="{BB962C8B-B14F-4D97-AF65-F5344CB8AC3E}">
        <p14:creationId xmlns:p14="http://schemas.microsoft.com/office/powerpoint/2010/main" val="181186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293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Rounded MT Bold</vt:lpstr>
      <vt:lpstr>Berlin Sans FB Demi</vt:lpstr>
      <vt:lpstr>Cooper Black</vt:lpstr>
      <vt:lpstr>Times New Roman</vt:lpstr>
      <vt:lpstr>Trebuchet MS</vt:lpstr>
      <vt:lpstr>Wingdings 3</vt:lpstr>
      <vt:lpstr>Facet</vt:lpstr>
      <vt:lpstr>THE INFORCERS</vt:lpstr>
      <vt:lpstr>#10 in the  country  with $161,390 submitted!</vt:lpstr>
      <vt:lpstr>The Inforcers Numbers</vt:lpstr>
      <vt:lpstr>TOP PRODUCER!!</vt:lpstr>
      <vt:lpstr>OUR GOALS!</vt:lpstr>
      <vt:lpstr>HIT IT---100K!!    IVELINA </vt:lpstr>
      <vt:lpstr>          FIRST NEW BUSINESS</vt:lpstr>
      <vt:lpstr>                  BOOTCAMP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SUPERIOR</dc:title>
  <dc:creator>Krystal Roberts*</dc:creator>
  <cp:lastModifiedBy>DAVID REED</cp:lastModifiedBy>
  <cp:revision>207</cp:revision>
  <dcterms:created xsi:type="dcterms:W3CDTF">2017-06-23T14:57:16Z</dcterms:created>
  <dcterms:modified xsi:type="dcterms:W3CDTF">2026-05-08T20:50:27Z</dcterms:modified>
</cp:coreProperties>
</file>